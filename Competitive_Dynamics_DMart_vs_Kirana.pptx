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86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Based on the supplied project outline. This is a study framework, not an empirical findings deck. Replace the name and institution placeholders. No price, survey or cost dataset was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Analysis plan only. No empirical findings are reported because no dataset was supplied. Demand regressions should account for confounding factors and avoid causal claims from correlations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are provisional, derived from the conceptual framework rather than measured findings. Validate the strengths, vulnerabilities and actions using the collected data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coexistence conclusion is a study proposition, not a confirmed empirical result. Deck based solely on the uploaded outline; contextual assertions should be supported with sources in the submitted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6E8B5"/>
                </a:solidFill>
                <a:latin typeface="Noto Sans"/>
              </a:defRPr>
            </a:pPr>
            <a:r>
              <a:t>PROJECT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8368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6E8B5"/>
                </a:solidFill>
                <a:latin typeface="Noto Sans"/>
              </a:defRPr>
            </a:pPr>
            <a:r>
              <a:rPr dirty="0"/>
              <a:t>D-MART × LOCAL KIRANA  /  COMPETITIVE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6E8B5"/>
                </a:solidFill>
                <a:latin typeface="Noto Sans"/>
              </a:defRPr>
            </a:pPr>
            <a: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41" y="913560"/>
            <a:ext cx="713232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5200" b="1">
                <a:solidFill>
                  <a:srgbClr val="FFFFFF"/>
                </a:solidFill>
                <a:latin typeface="Noto Sans"/>
              </a:defRPr>
            </a:pPr>
            <a:r>
              <a:rPr dirty="0"/>
              <a:t>Competitive</a:t>
            </a:r>
          </a:p>
          <a:p>
            <a:pPr>
              <a:spcAft>
                <a:spcPts val="800"/>
              </a:spcAft>
              <a:defRPr sz="5200" b="1">
                <a:solidFill>
                  <a:srgbClr val="FFFFFF"/>
                </a:solidFill>
                <a:latin typeface="Noto Sans"/>
              </a:defRPr>
            </a:pPr>
            <a:r>
              <a:rPr dirty="0"/>
              <a:t>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241" y="2723233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6E8B5"/>
                </a:solidFill>
                <a:latin typeface="Noto Sans"/>
              </a:defRPr>
            </a:pPr>
            <a:r>
              <a:rPr dirty="0"/>
              <a:t>D-Mart vs. Local Kirana 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774793"/>
            <a:ext cx="6583680" cy="10823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"/>
              </a:defRPr>
            </a:pPr>
            <a:r>
              <a:rPr lang="en-IN" dirty="0"/>
              <a:t>2620560011          :         Yuvaraj Reddy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"/>
              </a:defRPr>
            </a:pPr>
            <a:r>
              <a:rPr lang="en-IN" dirty="0"/>
              <a:t>2620560028          :         Sri Chethan</a:t>
            </a:r>
          </a:p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Noto Sans"/>
              </a:defRPr>
            </a:pPr>
            <a:r>
              <a:rPr lang="en-IN" dirty="0"/>
              <a:t>2620560041          :         Tanish Krishna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982712" y="822960"/>
            <a:ext cx="2926080" cy="1371600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891272" y="640080"/>
            <a:ext cx="3108960" cy="292608"/>
          </a:xfrm>
          <a:prstGeom prst="rect">
            <a:avLst/>
          </a:prstGeom>
          <a:solidFill>
            <a:srgbClr val="D6E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143000"/>
            <a:ext cx="585216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0536" y="1143000"/>
            <a:ext cx="585216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92056" y="1143000"/>
            <a:ext cx="585216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23576" y="1143000"/>
            <a:ext cx="585216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23774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D-MART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2712" y="3520440"/>
            <a:ext cx="2898648" cy="1371600"/>
          </a:xfrm>
          <a:prstGeom prst="rect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91272" y="3337559"/>
            <a:ext cx="3172968" cy="292608"/>
          </a:xfrm>
          <a:prstGeom prst="rect">
            <a:avLst/>
          </a:prstGeom>
          <a:solidFill>
            <a:srgbClr val="E9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9016" y="3840480"/>
            <a:ext cx="475488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23376" y="3840480"/>
            <a:ext cx="475488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17736" y="3840480"/>
            <a:ext cx="475488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12096" y="3840480"/>
            <a:ext cx="475488" cy="59436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91856" y="5239511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KIRANA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Two formats. Two sources of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94960" cy="73152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7455"/>
                </a:solidFill>
                <a:latin typeface="Noto Sans"/>
              </a:defRPr>
            </a:pPr>
            <a:r>
              <a:t>D-Mart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Organized / large-format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5303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Centralized procurement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Broad assortment and bulk baskets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Standardized operations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Scale-led price proposition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5394960" cy="73152"/>
          </a:xfrm>
          <a:prstGeom prst="rect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CE614C"/>
                </a:solidFill>
                <a:latin typeface="Noto Sans"/>
              </a:defRPr>
            </a:pPr>
            <a:r>
              <a:t>Local Kirana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Traditional / neighborhood retail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5303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Proximity and quick top-up trips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Personal relationships and service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Flexible quantities and informal credit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Hyper-local knowledge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D6E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83387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D32"/>
                </a:solidFill>
                <a:latin typeface="Noto Sans"/>
              </a:defRPr>
            </a:pPr>
            <a:r>
              <a:t>Indian retail evolution: modern formats expand while neighborhood stores remain relevant.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Why study this competition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7200" b="1">
                <a:solidFill>
                  <a:srgbClr val="247455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1012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3D32"/>
                </a:solidFill>
                <a:latin typeface="Noto Sans"/>
              </a:defRPr>
            </a:pPr>
            <a:r>
              <a:t>Retail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70832"/>
            <a:ext cx="333756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35A"/>
                </a:solidFill>
                <a:latin typeface="Noto Sans"/>
              </a:defRPr>
            </a:pPr>
            <a:r>
              <a:t>Organized retail’s reach into tier-2 and tier-3 cities raises questions about local competition.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240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7200" b="1">
                <a:solidFill>
                  <a:srgbClr val="CE614C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331012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3D32"/>
                </a:solidFill>
                <a:latin typeface="Noto Sans"/>
              </a:defRPr>
            </a:pPr>
            <a:r>
              <a:t>Changing shopping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370832"/>
            <a:ext cx="333756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35A"/>
                </a:solidFill>
                <a:latin typeface="Noto Sans"/>
              </a:defRPr>
            </a:pPr>
            <a:r>
              <a:t>Post-pandemic behavior makes value, access and shopping frequency important study lenses.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2240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7200" b="1">
                <a:solidFill>
                  <a:srgbClr val="247455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331012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73D32"/>
                </a:solidFill>
                <a:latin typeface="Noto Sans"/>
              </a:defRPr>
            </a:pPr>
            <a:r>
              <a:t>Local economic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4370832"/>
            <a:ext cx="333756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35A"/>
                </a:solidFill>
                <a:latin typeface="Noto Sans"/>
              </a:defRPr>
            </a:pPr>
            <a:r>
              <a:t>Compare corporate operational efficiency with the livelihood and service role of local stores.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Four objectives. One comparative lens.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04 / 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1945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Measure price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9260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Estimate elasticity for matched staple goods across both formats.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7648" y="22494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Map loyalty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Separate price effects from proximity, trust, credit and service.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3068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2519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Model operating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9834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Use Python to compare scale economies with local overheads.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251960"/>
            <a:ext cx="457200" cy="457200"/>
          </a:xfrm>
          <a:prstGeom prst="ellipse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4306824"/>
            <a:ext cx="320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519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Assess 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9834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Evaluate waste, packaging and sourcing under SDG 12.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SUBJECT SELECTION  /  CO1 + CO2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Demand meets neighborhood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035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2148840"/>
            <a:ext cx="53949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47455"/>
                </a:solidFill>
                <a:latin typeface="Noto Sans"/>
              </a:defRPr>
            </a:pPr>
            <a:r>
              <a:t>CO1  / 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D32"/>
                </a:solidFill>
                <a:latin typeface="Noto Sans"/>
              </a:defRPr>
            </a:pPr>
            <a:r>
              <a:t>Price elasticity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75887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7455"/>
                </a:solidFill>
                <a:latin typeface="Noto Sans"/>
              </a:defRPr>
            </a:pPr>
            <a:r>
              <a:t>Elasticity = %Δ quantity</a:t>
            </a:r>
          </a:p>
          <a:p>
            <a:pPr>
              <a:spcAft>
                <a:spcPts val="800"/>
              </a:spcAft>
              <a:defRPr sz="2400" b="1">
                <a:solidFill>
                  <a:srgbClr val="247455"/>
                </a:solidFill>
                <a:latin typeface="Noto Sans"/>
              </a:defRPr>
            </a:pPr>
            <a:r>
              <a:t>÷ %Δ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46634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Why: tests how staple demand responds to price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E614C"/>
                </a:solidFill>
                <a:latin typeface="Noto Sans"/>
              </a:defRPr>
            </a:pPr>
            <a:r>
              <a:t>CO2  /  BUSINESS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D32"/>
                </a:solidFill>
                <a:latin typeface="Noto Sans"/>
              </a:defRPr>
            </a:pPr>
            <a:r>
              <a:t>Loyalty &amp; anchoring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75887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CE614C"/>
                </a:solidFill>
                <a:latin typeface="Noto Sans"/>
              </a:defRPr>
            </a:pPr>
            <a:r>
              <a:t>Trust + proximity + service</a:t>
            </a:r>
          </a:p>
          <a:p>
            <a:pPr>
              <a:spcAft>
                <a:spcPts val="800"/>
              </a:spcAft>
              <a:defRPr sz="2400" b="1">
                <a:solidFill>
                  <a:srgbClr val="CE614C"/>
                </a:solidFill>
                <a:latin typeface="Noto Sans"/>
              </a:defRPr>
            </a:pPr>
            <a:r>
              <a:t>+ flexible credit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09160"/>
            <a:ext cx="46634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Why: captures non-price advantages that price comparisons miss.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3387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Compare identical products and control for household, location and shopping 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SUBJECT SELECTION  /  CO3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Python turns disparate data into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429000" cy="594360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D32"/>
                </a:solidFill>
                <a:latin typeface="Noto Sans"/>
              </a:defRPr>
            </a:pPr>
            <a:r>
              <a:t>Clean, join and normalize price, survey and cost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331720"/>
            <a:ext cx="3429000" cy="594360"/>
          </a:xfrm>
          <a:prstGeom prst="rect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241401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Cost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329184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D32"/>
                </a:solidFill>
                <a:latin typeface="Noto Sans"/>
              </a:defRPr>
            </a:pPr>
            <a:r>
              <a:t>Separate fixed overheads, procurement costs and sales volume.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2331720"/>
            <a:ext cx="3429000" cy="594360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3" y="241401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9184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D32"/>
                </a:solidFill>
                <a:latin typeface="Noto Sans"/>
              </a:defRPr>
            </a:pPr>
            <a:r>
              <a:t>Visualize unit prices, cost scenarios and format comparisons.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138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D6E8B5"/>
                </a:solidFill>
                <a:latin typeface="Noto Sans"/>
              </a:defRPr>
            </a:pPr>
            <a:r>
              <a:t>Analytical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38928"/>
            <a:ext cx="7635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When does scale outweigh the kirana’s asset-light structure?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METHODOLOGY  /  DATA COLLECTION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Collect → standardize →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07 / 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7355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D32"/>
                </a:solidFill>
                <a:latin typeface="Noto San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3383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Primary consumer surveys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Secondary price tracking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Store cost observations</a:t>
            </a:r>
          </a:p>
        </p:txBody>
      </p:sp>
      <p:sp>
        <p:nvSpPr>
          <p:cNvPr id="10" name="Oval 9"/>
          <p:cNvSpPr/>
          <p:nvPr/>
        </p:nvSpPr>
        <p:spPr>
          <a:xfrm>
            <a:off x="4325112" y="2331720"/>
            <a:ext cx="640080" cy="640080"/>
          </a:xfrm>
          <a:prstGeom prst="ellipse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27355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D32"/>
                </a:solidFill>
                <a:latin typeface="Noto Sans"/>
              </a:defRPr>
            </a:pPr>
            <a:r>
              <a:t>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4087368"/>
            <a:ext cx="3383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Match brand, pack and SKU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Convert to unit prices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Align dates and locations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101583" y="2331720"/>
            <a:ext cx="640080" cy="640080"/>
          </a:xfrm>
          <a:prstGeom prst="ellipse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327355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D32"/>
                </a:solidFill>
                <a:latin typeface="Noto San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3" y="4087368"/>
            <a:ext cx="33832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Check missing values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Flag outliers for review</a:t>
            </a:r>
          </a:p>
          <a:p>
            <a:pPr>
              <a:spcAft>
                <a:spcPts val="800"/>
              </a:spcAft>
              <a:defRPr sz="2200" b="0">
                <a:solidFill>
                  <a:srgbClr val="52635A"/>
                </a:solidFill>
                <a:latin typeface="Noto Sans"/>
              </a:defRPr>
            </a:pPr>
            <a:r>
              <a:t>Remove duplicate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0702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47455"/>
                </a:solidFill>
                <a:latin typeface="Noto Sans"/>
              </a:defRPr>
            </a:pPr>
            <a:r>
              <a:t>Keep promotional flags and an audit trail; do not remove unusual prices without checking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METHODOLOGY  /  ANALYSIS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From cleaned data to testable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46304" cy="978408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749039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Elasticity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488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Estimate demand–price relationships.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88336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Output: demand curves and elasticity estimates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146304" cy="978408"/>
          </a:xfrm>
          <a:prstGeom prst="rect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749039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Cost–profit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Model margins under volume scenarios.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68496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Output: unit economics and break-even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146304" cy="978408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3749039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73D32"/>
                </a:solidFill>
                <a:latin typeface="Noto Sans"/>
              </a:defRPr>
            </a:pPr>
            <a:r>
              <a:t>Survey &amp; sentiment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7091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Code loyalty drivers and open responses.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48656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635A"/>
                </a:solidFill>
                <a:latin typeface="Noto Sans"/>
              </a:defRPr>
            </a:pPr>
            <a:r>
              <a:t>Output: themes and consumer segments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ADVANCED DYNAMICS  /  CO4 + CO5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Competition extends beyond the shelf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47455"/>
                </a:solidFill>
                <a:latin typeface="Noto Sans"/>
              </a:defRPr>
            </a:pPr>
            <a:r>
              <a:t>CO4  / 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52120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3D32"/>
                </a:solidFill>
                <a:latin typeface="Noto Sans"/>
              </a:defRPr>
            </a:pPr>
            <a:r>
              <a:t>Similar staples, different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53035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73D32"/>
                </a:solidFill>
                <a:latin typeface="Noto Sans"/>
              </a:defRPr>
            </a:pPr>
            <a:r>
              <a:t>Kirana: service, credit and proximity</a:t>
            </a:r>
          </a:p>
          <a:p>
            <a:pPr>
              <a:spcAft>
                <a:spcPts val="800"/>
              </a:spcAft>
              <a:defRPr sz="2400" b="0">
                <a:solidFill>
                  <a:srgbClr val="173D32"/>
                </a:solidFill>
                <a:latin typeface="Noto Sans"/>
              </a:defRPr>
            </a:pPr>
            <a:r>
              <a:t>D-Mart: assortment and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48840"/>
            <a:ext cx="5394960" cy="3456432"/>
          </a:xfrm>
          <a:prstGeom prst="rect">
            <a:avLst/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6E8B5"/>
                </a:solidFill>
                <a:latin typeface="Noto Sans"/>
              </a:defRPr>
            </a:pPr>
            <a:r>
              <a:t>CO5  /  PRICING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9923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"/>
              </a:defRPr>
            </a:pPr>
            <a:r>
              <a:t>Everyday low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3931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E8B5"/>
                </a:solidFill>
                <a:latin typeface="Noto Sans"/>
              </a:defRPr>
            </a:pPr>
            <a:r>
              <a:t>D-Mart’s value-led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79392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"/>
              </a:defRPr>
            </a:pPr>
            <a:r>
              <a:t>Localized promotions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6E8B5"/>
                </a:solidFill>
                <a:latin typeface="Noto Sans"/>
              </a:defRPr>
            </a:pPr>
            <a:r>
              <a:t>Kirana festival and seasonal tactics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795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35A"/>
                </a:solidFill>
                <a:latin typeface="Noto Sans"/>
              </a:defRPr>
            </a:pPr>
            <a:r>
              <a:t>Monopolistic competition is an analytical lens; validate it against actual local market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ESG &amp; SUSTAINABILITY  /  CO6 + SDG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Responsible consumption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2103120" cy="3337560"/>
          </a:xfrm>
          <a:prstGeom prst="rect">
            <a:avLst/>
          </a:prstGeom>
          <a:solidFill>
            <a:srgbClr val="E9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496312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8600" b="1">
                <a:solidFill>
                  <a:srgbClr val="173D32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950208"/>
            <a:ext cx="16916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73D32"/>
                </a:solidFill>
                <a:latin typeface="Noto Sans"/>
              </a:defRPr>
            </a:pPr>
            <a:r>
              <a:t>SDG</a:t>
            </a:r>
          </a:p>
          <a:p>
            <a:pPr>
              <a:spcAft>
                <a:spcPts val="800"/>
              </a:spcAft>
              <a:defRPr sz="2000" b="1">
                <a:solidFill>
                  <a:srgbClr val="173D32"/>
                </a:solidFill>
                <a:latin typeface="Noto Sans"/>
              </a:defRPr>
            </a:pPr>
            <a:r>
              <a:t>Responsible</a:t>
            </a:r>
          </a:p>
          <a:p>
            <a:pPr>
              <a:spcAft>
                <a:spcPts val="800"/>
              </a:spcAft>
              <a:defRPr sz="2000" b="1">
                <a:solidFill>
                  <a:srgbClr val="173D32"/>
                </a:solidFill>
                <a:latin typeface="Noto Sans"/>
              </a:defRPr>
            </a:pPr>
            <a:r>
              <a:t>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677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47455"/>
                </a:solidFill>
                <a:latin typeface="Noto Sans"/>
              </a:defRPr>
            </a:pPr>
            <a:r>
              <a:t>D-Mart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182112"/>
            <a:ext cx="3794760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Potential advantage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Efficient supply chains and inventory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782312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Assess packaging, transport and unsold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6771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CE614C"/>
                </a:solidFill>
                <a:latin typeface="Noto Sans"/>
              </a:defRPr>
            </a:pPr>
            <a:r>
              <a:t>Local Kirana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182112"/>
            <a:ext cx="3794760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Potential advantage</a:t>
            </a:r>
          </a:p>
          <a:p>
            <a:pPr>
              <a:spcAft>
                <a:spcPts val="800"/>
              </a:spcAft>
              <a:defRPr sz="2200" b="0">
                <a:solidFill>
                  <a:srgbClr val="173D32"/>
                </a:solidFill>
                <a:latin typeface="Noto Sans"/>
              </a:defRPr>
            </a:pPr>
            <a:r>
              <a:t>Loose sales, flexible quantities and local sourcing.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782312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Assess spoilage, sourcing and food safety.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7959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47455"/>
                </a:solidFill>
                <a:latin typeface="Noto Sans"/>
              </a:defRPr>
            </a:pPr>
            <a:r>
              <a:t>No automatic winner: compare waste and resource use per equivalent basket sold.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47455"/>
                </a:solidFill>
                <a:latin typeface="Noto Sans"/>
              </a:defRPr>
            </a:pPr>
            <a:r>
              <a:t>SYNTHESIS  /  PROVISIONAL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73D32"/>
                </a:solidFill>
                <a:latin typeface="Noto Sans"/>
              </a:defRPr>
            </a:pPr>
            <a:r>
              <a:t>Strategic implications for both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35A"/>
                </a:solidFill>
                <a:latin typeface="Noto Sans"/>
              </a:defRPr>
            </a:pPr>
            <a: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103120" cy="457200"/>
          </a:xfrm>
          <a:prstGeom prst="rect">
            <a:avLst/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82879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993392"/>
            <a:ext cx="4480560" cy="457200"/>
          </a:xfrm>
          <a:prstGeom prst="rect">
            <a:avLst/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20756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Strengths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993392"/>
            <a:ext cx="4480560" cy="457200"/>
          </a:xfrm>
          <a:prstGeom prst="rect">
            <a:avLst/>
          </a:prstGeom>
          <a:solidFill>
            <a:srgbClr val="17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0756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Vulnerabilities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2"/>
            <a:ext cx="2103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69464"/>
            <a:ext cx="182879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D32"/>
                </a:solidFill>
                <a:latin typeface="Noto Sans"/>
              </a:defRPr>
            </a:pPr>
            <a:r>
              <a:t>D-Mart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450592"/>
            <a:ext cx="4480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256946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D32"/>
                </a:solidFill>
                <a:latin typeface="Noto Sans"/>
              </a:defRPr>
            </a:pPr>
            <a:r>
              <a:t>Scale purchasing; broad assortment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50592"/>
            <a:ext cx="4480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256946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D32"/>
                </a:solidFill>
                <a:latin typeface="Noto Sans"/>
              </a:defRPr>
            </a:pPr>
            <a:r>
              <a:t>Travel friction; less personal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36392"/>
            <a:ext cx="2103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255264"/>
            <a:ext cx="182879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73D32"/>
                </a:solidFill>
                <a:latin typeface="Noto Sans"/>
              </a:defRPr>
            </a:pPr>
            <a:r>
              <a:t>Kirana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136392"/>
            <a:ext cx="4480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325526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D32"/>
                </a:solidFill>
                <a:latin typeface="Noto Sans"/>
              </a:defRPr>
            </a:pPr>
            <a:r>
              <a:t>Proximity; trust; flexible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136392"/>
            <a:ext cx="4480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325526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D32"/>
                </a:solidFill>
                <a:latin typeface="Noto Sans"/>
              </a:defRPr>
            </a:pPr>
            <a:r>
              <a:t>Purchasing power; limited assortment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457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CE614C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33672"/>
            <a:ext cx="286207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73D32"/>
                </a:solidFill>
                <a:latin typeface="Noto Sans"/>
              </a:defRPr>
            </a:pPr>
            <a:r>
              <a:t>Target shopping 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93792"/>
            <a:ext cx="3410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D-Mart: bulk baskets. Kirana: urgent top-ups.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4187952"/>
            <a:ext cx="457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CE614C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4233672"/>
            <a:ext cx="286207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73D32"/>
                </a:solidFill>
                <a:latin typeface="Noto Sans"/>
              </a:defRPr>
            </a:pPr>
            <a:r>
              <a:t>Protect unit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5193792"/>
            <a:ext cx="3410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D-Mart: optimize stock. Kirana: pool procurement.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4187952"/>
            <a:ext cx="457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CE614C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4233672"/>
            <a:ext cx="286207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73D32"/>
                </a:solidFill>
                <a:latin typeface="Noto Sans"/>
              </a:defRPr>
            </a:pPr>
            <a:r>
              <a:t>Measure 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5193792"/>
            <a:ext cx="341071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35A"/>
                </a:solidFill>
                <a:latin typeface="Noto Sans"/>
              </a:defRPr>
            </a:pPr>
            <a:r>
              <a:t>Both: track packaging, spoilage and waste.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120" y="44805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6E8B5"/>
                </a:solidFill>
                <a:latin typeface="Noto Sans"/>
              </a:defRPr>
            </a:pPr>
            <a:r>
              <a:t>CONCLUSION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Noto Sans"/>
              </a:defRPr>
            </a:pPr>
            <a:r>
              <a:t>Coexistence, not total substitution.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6E8B5"/>
                </a:solidFill>
                <a:latin typeface="Noto Sans"/>
              </a:defRPr>
            </a:pPr>
            <a:r>
              <a:t>D-MART × LOCAL KIRANA  /  COMPETITIVE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6E8B5"/>
                </a:solidFill>
                <a:latin typeface="Noto Sans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D6E8B5"/>
                </a:solidFill>
                <a:latin typeface="Noto Sans"/>
              </a:defRPr>
            </a:pPr>
            <a:r>
              <a:t>A working conclusion to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0008"/>
            <a:ext cx="3474720" cy="576072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50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3300984"/>
            <a:ext cx="3474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Noto Sans"/>
              </a:defRPr>
            </a:pPr>
            <a:r>
              <a:t>Value, variety and planned bulk purchases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0008"/>
            <a:ext cx="3474720" cy="576072"/>
          </a:xfrm>
          <a:prstGeom prst="rect">
            <a:avLst/>
          </a:prstGeom>
          <a:solidFill>
            <a:srgbClr val="CE6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450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PROXIMITY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246120"/>
            <a:ext cx="3474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Noto Sans"/>
              </a:defRPr>
            </a:pPr>
            <a:r>
              <a:t>Trust, flexibility and everyday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350008"/>
            <a:ext cx="3474720" cy="576072"/>
          </a:xfrm>
          <a:prstGeom prst="rect">
            <a:avLst/>
          </a:prstGeom>
          <a:solidFill>
            <a:srgbClr val="24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50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Noto Sans"/>
              </a:defRPr>
            </a:pPr>
            <a:r>
              <a:t>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46120"/>
            <a:ext cx="3474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Noto Sans"/>
              </a:defRPr>
            </a:pPr>
            <a:r>
              <a:t>Different shopping missions sustain both formats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963</Words>
  <Application>Microsoft Office PowerPoint</Application>
  <PresentationFormat>Widescreen</PresentationFormat>
  <Paragraphs>185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Dynamics: D-Mart vs. Local Kirana Retail</dc:title>
  <dc:subject>12-slide academic study framework</dc:subject>
  <dc:creator>Prachh Reddy</dc:creator>
  <cp:keywords/>
  <dc:description>generated using python-pptx</dc:description>
  <cp:lastModifiedBy>Prachh Reddy</cp:lastModifiedBy>
  <cp:revision>2</cp:revision>
  <dcterms:created xsi:type="dcterms:W3CDTF">2013-01-27T09:14:16Z</dcterms:created>
  <dcterms:modified xsi:type="dcterms:W3CDTF">2026-10-07T15:37:44Z</dcterms:modified>
  <cp:category/>
</cp:coreProperties>
</file>